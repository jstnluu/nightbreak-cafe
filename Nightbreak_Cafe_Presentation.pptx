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C9773B"/>
            </a:solidFill>
          </c:spPr>
          <c:cat>
            <c:strRef>
              <c:f>Sheet1!$A$2:$A$5</c:f>
              <c:strCache>
                <c:ptCount val="4"/>
                <c:pt idx="0">
                  <c:v>Workflow</c:v>
                </c:pt>
                <c:pt idx="1">
                  <c:v>Hash</c:v>
                </c:pt>
                <c:pt idx="2">
                  <c:v>Queue</c:v>
                </c:pt>
                <c:pt idx="3">
                  <c:v>Sort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0.000481</c:v>
                </c:pt>
                <c:pt idx="1">
                  <c:v>0.002705</c:v>
                </c:pt>
                <c:pt idx="2">
                  <c:v>0.001461</c:v>
                </c:pt>
                <c:pt idx="3">
                  <c:v>0.002781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73F35"/>
          </a:solidFill>
          <a:ln>
            <a:solidFill>
              <a:srgbClr val="173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777240"/>
            <a:ext cx="1005840" cy="109728"/>
          </a:xfrm>
          <a:prstGeom prst="rect">
            <a:avLst/>
          </a:prstGeom>
          <a:solidFill>
            <a:srgbClr val="C97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Nightbreak Cafe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EFEA"/>
                </a:solidFill>
                <a:latin typeface="Aptos"/>
              </a:rPr>
              <a:t>Mobile Ordering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 simplified data-structure-first prototype for CSCI 046.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8229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F35"/>
                </a:solidFill>
                <a:latin typeface="Aptos"/>
              </a:rPr>
              <a:t>CSCI 046 - Data Structures and Algorithms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3258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1F1F"/>
                </a:solidFill>
                <a:latin typeface="Aptos"/>
              </a:rPr>
              <a:t>We focused on a small cafe workflow so the linked list, queue, hash table, BST, merge sort, and binary search stay easy to see and easy to defend.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43200"/>
            <a:ext cx="3154680" cy="109728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Team Members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[Fill in names here]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4069080"/>
            <a:ext cx="3154680" cy="96012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Professor / Date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Dr. Benyamin Ahmadnia</a:t>
            </a:r>
            <a:br/>
            <a:r>
              <a:t>[Fill in presentation date]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051560"/>
            <a:ext cx="3520440" cy="406908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cafe photo, logo, or app screenshot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349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C6B67"/>
                </a:solidFill>
                <a:latin typeface="Aptos"/>
              </a:rPr>
              <a:t>GitHub Link Placeholder
[Add final repo link after upload]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074920" cy="192024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01  Background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Topic, motivation, and the problem we wanted to solve.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234440"/>
            <a:ext cx="5074920" cy="192024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02  System Design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Simple workflow plus the structures behind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5074920" cy="192024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03  Code Deep Dive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Lecture-style implementations and ordering logic.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3657600"/>
            <a:ext cx="5074920" cy="192024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04  Results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Tests, benchmarks, demo, and future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Introduction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73F35"/>
                </a:solidFill>
                <a:latin typeface="Aptos"/>
              </a:rPr>
              <a:t>Why this topic made sense for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1F1F1F"/>
                </a:solidFill>
                <a:latin typeface="Aptos"/>
              </a:defRPr>
            </a:pPr>
            <a:r>
              <a:t>Cafe ordering has repeated actions that fit data structures naturally.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Customers need quick menu access and clear order status updates.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The kitchen needs a fair first-in, first-out workflow.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The program needs faster lookup than repeated linear scanning.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5120640" cy="9144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Why we simplified the project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instructions warned against hiding a weak project behind UI fluff, so we kept the interface small and the data structures visible.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4937760" cy="420624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one cafe image or one terminal screenshot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73F35"/>
                </a:solidFill>
                <a:latin typeface="Aptos"/>
              </a:rPr>
              <a:t>What needed to be organized?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74720" cy="155448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Menu Lookup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program should find menu items quickly by id and by price range.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474720" cy="155448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Kitchen Fairness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Orders should move in the same order they arrive instead of getting skipped randomly.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737360"/>
            <a:ext cx="3474720" cy="155448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Order Tracking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system should keep active and completed orders easy to find and update.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77639"/>
            <a:ext cx="10378440" cy="1325880"/>
          </a:xfrm>
          <a:prstGeom prst="roundRect">
            <a:avLst/>
          </a:prstGeom>
          <a:solidFill>
            <a:srgbClr val="173F35"/>
          </a:solidFill>
          <a:ln>
            <a:solidFill>
              <a:srgbClr val="173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Main Question: How can we build a simple cafe ordering system where the custom data structures clearly control menu access, queue flow, and search?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73F35"/>
                </a:solidFill>
                <a:latin typeface="Aptos"/>
              </a:rPr>
              <a:t>Simple end-to-end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645920" cy="105156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73F35"/>
                </a:solidFill>
                <a:latin typeface="Aptos"/>
              </a:rPr>
              <a:t>Browse Menu</a:t>
            </a:r>
          </a:p>
        </p:txBody>
      </p:sp>
      <p:sp>
        <p:nvSpPr>
          <p:cNvPr id="7" name="Chevron 6"/>
          <p:cNvSpPr/>
          <p:nvPr/>
        </p:nvSpPr>
        <p:spPr>
          <a:xfrm>
            <a:off x="2606040" y="2340864"/>
            <a:ext cx="347472" cy="411480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63240" y="2057400"/>
            <a:ext cx="1645920" cy="1051560"/>
          </a:xfrm>
          <a:prstGeom prst="roundRect">
            <a:avLst/>
          </a:prstGeom>
          <a:solidFill>
            <a:srgbClr val="D9E6DD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73F35"/>
                </a:solidFill>
                <a:latin typeface="Aptos"/>
              </a:rPr>
              <a:t>Create Order</a:t>
            </a:r>
          </a:p>
        </p:txBody>
      </p:sp>
      <p:sp>
        <p:nvSpPr>
          <p:cNvPr id="9" name="Chevron 8"/>
          <p:cNvSpPr/>
          <p:nvPr/>
        </p:nvSpPr>
        <p:spPr>
          <a:xfrm>
            <a:off x="4846320" y="2340864"/>
            <a:ext cx="347472" cy="411480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03520" y="2057400"/>
            <a:ext cx="1645920" cy="105156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73F35"/>
                </a:solidFill>
                <a:latin typeface="Aptos"/>
              </a:rPr>
              <a:t>Join Queue</a:t>
            </a:r>
          </a:p>
        </p:txBody>
      </p:sp>
      <p:sp>
        <p:nvSpPr>
          <p:cNvPr id="11" name="Chevron 10"/>
          <p:cNvSpPr/>
          <p:nvPr/>
        </p:nvSpPr>
        <p:spPr>
          <a:xfrm>
            <a:off x="7086600" y="2340864"/>
            <a:ext cx="347472" cy="411480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43800" y="2057400"/>
            <a:ext cx="1645920" cy="1051560"/>
          </a:xfrm>
          <a:prstGeom prst="roundRect">
            <a:avLst/>
          </a:prstGeom>
          <a:solidFill>
            <a:srgbClr val="D9E6DD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73F35"/>
                </a:solidFill>
                <a:latin typeface="Aptos"/>
              </a:rPr>
              <a:t>Kitchen Update</a:t>
            </a:r>
          </a:p>
        </p:txBody>
      </p:sp>
      <p:sp>
        <p:nvSpPr>
          <p:cNvPr id="13" name="Chevron 12"/>
          <p:cNvSpPr/>
          <p:nvPr/>
        </p:nvSpPr>
        <p:spPr>
          <a:xfrm>
            <a:off x="9326880" y="2340864"/>
            <a:ext cx="347472" cy="411480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46920" y="2057400"/>
            <a:ext cx="1645920" cy="105156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73F35"/>
                </a:solidFill>
                <a:latin typeface="Aptos"/>
              </a:rPr>
              <a:t>Dashboard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69080"/>
            <a:ext cx="6400800" cy="132588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Final scope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Short menu, terminal demo, and clean structure choices. This version is smaller than our original draft, but it matches the assignment better.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703320"/>
            <a:ext cx="3474720" cy="178308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one image here
for the solution or demo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Methodology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3474720" cy="11887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LinkedList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Stores the menu and completed-order history.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25880"/>
            <a:ext cx="3474720" cy="11887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SLLQueue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Runs the kitchen in FIFO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325880"/>
            <a:ext cx="3474720" cy="11887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HashTable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Finds menu items, active orders, and sales 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063240"/>
            <a:ext cx="3474720" cy="11887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BST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Keeps menu prices in searchable order.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063240"/>
            <a:ext cx="3749039" cy="11887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Merge Sort + Binary Search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Supports sorted output and budget search.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983480"/>
            <a:ext cx="10058400" cy="868680"/>
          </a:xfrm>
          <a:prstGeom prst="roundRect">
            <a:avLst/>
          </a:prstGeom>
          <a:solidFill>
            <a:srgbClr val="173F35"/>
          </a:solidFill>
          <a:ln>
            <a:solidFill>
              <a:srgbClr val="173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The goal was not to use every structure everywhere. The goal was to give each structure one clear job in the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Why We Chose These Data Structures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83564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  <a:gridCol w="3611880"/>
              </a:tblGrid>
              <a:tr h="6781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Structure</a:t>
                      </a:r>
                    </a:p>
                  </a:txBody>
                  <a:tcPr>
                    <a:solidFill>
                      <a:srgbClr val="173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Where We Used It</a:t>
                      </a:r>
                    </a:p>
                  </a:txBody>
                  <a:tcPr>
                    <a:solidFill>
                      <a:srgbClr val="173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Why It Fits</a:t>
                      </a:r>
                    </a:p>
                  </a:txBody>
                  <a:tcPr>
                    <a:solidFill>
                      <a:srgbClr val="173F35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LinkedList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Menu and completed history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Simple ordered storage that matches lecture code.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SLLQueue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Kitchen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First-in, first-out is the natural kitchen rule.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HashTable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Lookup by id and sales counts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Fast average-case repeated lookup.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BST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Menu prices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Makes price-based access feel built into the design.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Sort / Search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Recommendations and reports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Aptos"/>
                        </a:defRPr>
                      </a:pPr>
                      <a:r>
                        <a:t>Useful once data is already organized.</a:t>
                      </a:r>
                    </a:p>
                  </a:txBody>
                  <a:tcPr>
                    <a:solidFill>
                      <a:srgbClr val="FFF8E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577840"/>
            <a:ext cx="10561320" cy="6858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Key idea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We kept the project simple so each structure has an obvious role and is easy to defend during Q&amp;A.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Code Deep Dive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80160"/>
            <a:ext cx="5303520" cy="420624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LinkedList.insert()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627632"/>
            <a:ext cx="4974336" cy="376732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def insert(self, newNode):</a:t>
            </a:r>
            <a:br/>
            <a:r>
              <a:t>    if self.head is None:</a:t>
            </a:r>
            <a:br/>
            <a:r>
              <a:t>        self.head = newNode</a:t>
            </a:r>
            <a:br/>
            <a:r>
              <a:t>    else:</a:t>
            </a:r>
            <a:br/>
            <a:r>
              <a:t>        lastNode = self.head</a:t>
            </a:r>
            <a:br/>
            <a:r>
              <a:t>        while(lastNode.next):</a:t>
            </a:r>
            <a:br/>
            <a:r>
              <a:t>            lastNode = lastNode.next</a:t>
            </a:r>
            <a:br/>
            <a:r>
              <a:t>        lastNode.next = newNode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303520" cy="420624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53312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SLLQueue.enqueue() / dequeue()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1627632"/>
            <a:ext cx="4974336" cy="376732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def enqueue(self, element):</a:t>
            </a:r>
            <a:br/>
            <a:r>
              <a:t>    new = self.Node(element, None)</a:t>
            </a:r>
            <a:br/>
            <a:r>
              <a:t>    if self.is_empty():</a:t>
            </a:r>
            <a:br/>
            <a:r>
              <a:t>        self.head = new</a:t>
            </a:r>
            <a:br/>
            <a:r>
              <a:t>    else:</a:t>
            </a:r>
            <a:br/>
            <a:r>
              <a:t>        self.tail._next = new</a:t>
            </a:r>
            <a:br/>
            <a:r>
              <a:t>    self.tail = new</a:t>
            </a:r>
            <a:br/>
            <a:r>
              <a:t>    self.size += 1</a:t>
            </a:r>
            <a:br/>
            <a:br/>
            <a:r>
              <a:t>def dequeue(self):</a:t>
            </a:r>
            <a:br/>
            <a:r>
              <a:t>    if self.is_empty():</a:t>
            </a:r>
            <a:br/>
            <a:r>
              <a:t>        raise IsEmptyError("Empty queue so cannot dequeue.")</a:t>
            </a:r>
            <a:br/>
            <a:r>
              <a:t>    result = self.head.element</a:t>
            </a:r>
            <a:br/>
            <a:r>
              <a:t>    self.head = self.head._next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623560"/>
            <a:ext cx="10561320" cy="6858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What this slide shows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data structures are implemented directly in a beginner-friendly style instead of being hidden behind built-in containers.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Code Deep Dive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576072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99032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HashTable.hash_function() / set()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673352"/>
            <a:ext cx="5431536" cy="404164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def hash_function(self, key):</a:t>
            </a:r>
            <a:br/>
            <a:r>
              <a:t>    text = str(key)</a:t>
            </a:r>
            <a:br/>
            <a:r>
              <a:t>    total = 0</a:t>
            </a:r>
            <a:br/>
            <a:r>
              <a:t>    for letter in text:</a:t>
            </a:r>
            <a:br/>
            <a:r>
              <a:t>        total = total + ord(letter)</a:t>
            </a:r>
            <a:br/>
            <a:r>
              <a:t>    return total % self.capacity</a:t>
            </a:r>
            <a:br/>
            <a:br/>
            <a:r>
              <a:t>def set(self, key, value):</a:t>
            </a:r>
            <a:br/>
            <a:r>
              <a:t>    index = self.hash_function(key)</a:t>
            </a:r>
            <a:br/>
            <a:r>
              <a:t>    currentNode = self.table[index]</a:t>
            </a:r>
            <a:br/>
            <a:r>
              <a:t>    while(currentNode is not None):</a:t>
            </a:r>
            <a:br/>
            <a:r>
              <a:t>        if currentNode.key == key:</a:t>
            </a:r>
            <a:br/>
            <a:r>
              <a:t>            currentNode.value = value</a:t>
            </a:r>
            <a:br/>
            <a:r>
              <a:t>            return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417320"/>
            <a:ext cx="4572000" cy="114300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Why hashing matters here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system keeps using ids over and over, so menu and active-order lookup are the places where a hash table helps the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926080"/>
            <a:ext cx="1234440" cy="9144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1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926080"/>
            <a:ext cx="1463040" cy="9144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2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Bucket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49840" y="2926080"/>
            <a:ext cx="1005840" cy="9144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3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Find</a:t>
            </a:r>
          </a:p>
        </p:txBody>
      </p:sp>
      <p:sp>
        <p:nvSpPr>
          <p:cNvPr id="12" name="Chevron 11"/>
          <p:cNvSpPr/>
          <p:nvPr/>
        </p:nvSpPr>
        <p:spPr>
          <a:xfrm>
            <a:off x="8275320" y="3154680"/>
            <a:ext cx="164592" cy="274320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9921240" y="3154680"/>
            <a:ext cx="164592" cy="274320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12280" y="4297680"/>
            <a:ext cx="4572000" cy="132588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Simple example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NB102 -&gt; hash function -&gt; bucket index -&gt; stored item. This is much faster than scanning the whole menu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Code Deep Dive 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5486400" cy="438912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9903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BST range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673352"/>
            <a:ext cx="5157216" cy="395020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def range_query(self, minimum, maximum, results):</a:t>
            </a:r>
            <a:br/>
            <a:r>
              <a:t>    if(minimum &lt; self.data and self.left != None):</a:t>
            </a:r>
            <a:br/>
            <a:r>
              <a:t>        self.left.range_query(minimum, maximum, results)</a:t>
            </a:r>
            <a:br/>
            <a:r>
              <a:t>    if(minimum &lt;= self.data and self.data &lt;= maximum):</a:t>
            </a:r>
            <a:br/>
            <a:r>
              <a:t>        for item in self.items:</a:t>
            </a:r>
            <a:br/>
            <a:r>
              <a:t>            results.append(item)</a:t>
            </a:r>
            <a:br/>
            <a:r>
              <a:t>    if(maximum &gt; self.data and self.right != None):</a:t>
            </a:r>
            <a:br/>
            <a:r>
              <a:t>        self.right.range_query(minimum, maximum, results)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325880"/>
            <a:ext cx="5257800" cy="438912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399032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Binary search for budget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1673352"/>
            <a:ext cx="4928616" cy="395020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def binary_search_best_affordable(arr, budget, key=None):</a:t>
            </a:r>
            <a:br/>
            <a:r>
              <a:t>    if key is None:</a:t>
            </a:r>
            <a:br/>
            <a:r>
              <a:t>        key = lambda value: value</a:t>
            </a:r>
            <a:br/>
            <a:r>
              <a:t>    low = 0</a:t>
            </a:r>
            <a:br/>
            <a:r>
              <a:t>    high = len(arr) - 1</a:t>
            </a:r>
            <a:br/>
            <a:r>
              <a:t>    best = None</a:t>
            </a:r>
            <a:br/>
            <a:r>
              <a:t>    while(low &lt;= high):</a:t>
            </a:r>
            <a:br/>
            <a:r>
              <a:t>        mid = (low + high) // 2</a:t>
            </a:r>
            <a:br/>
            <a:r>
              <a:t>        if(key(arr[mid]) &lt;= budget):</a:t>
            </a:r>
            <a:br/>
            <a:r>
              <a:t>            best = arr[mid]</a:t>
            </a:r>
            <a:br/>
            <a:r>
              <a:t>            low = mid + 1</a:t>
            </a:r>
            <a:br/>
            <a:r>
              <a:t>        else:</a:t>
            </a:r>
            <a:br/>
            <a:r>
              <a:t>            high = mid - 1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623560"/>
            <a:ext cx="10561320" cy="68580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Lecture-slide connection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BST code keeps the direct conditional style from class, including the extra parentheses shown in the BST lecture examples.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Order Workflow in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234440"/>
            <a:ext cx="1783080" cy="73152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73F35"/>
                </a:solidFill>
                <a:latin typeface="Aptos"/>
              </a:rPr>
              <a:t>RECEIVED</a:t>
            </a:r>
          </a:p>
        </p:txBody>
      </p:sp>
      <p:sp>
        <p:nvSpPr>
          <p:cNvPr id="6" name="Chevron 5"/>
          <p:cNvSpPr/>
          <p:nvPr/>
        </p:nvSpPr>
        <p:spPr>
          <a:xfrm>
            <a:off x="2770632" y="1453896"/>
            <a:ext cx="256032" cy="256032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46120" y="1234440"/>
            <a:ext cx="1783080" cy="731520"/>
          </a:xfrm>
          <a:prstGeom prst="roundRect">
            <a:avLst/>
          </a:prstGeom>
          <a:solidFill>
            <a:srgbClr val="D9E6DD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73F35"/>
                </a:solidFill>
                <a:latin typeface="Aptos"/>
              </a:rPr>
              <a:t>PREPARING</a:t>
            </a:r>
          </a:p>
        </p:txBody>
      </p:sp>
      <p:sp>
        <p:nvSpPr>
          <p:cNvPr id="8" name="Chevron 7"/>
          <p:cNvSpPr/>
          <p:nvPr/>
        </p:nvSpPr>
        <p:spPr>
          <a:xfrm>
            <a:off x="5148072" y="1453896"/>
            <a:ext cx="256032" cy="256032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23560" y="1234440"/>
            <a:ext cx="1783080" cy="73152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73F35"/>
                </a:solidFill>
                <a:latin typeface="Aptos"/>
              </a:rPr>
              <a:t>READY</a:t>
            </a:r>
          </a:p>
        </p:txBody>
      </p:sp>
      <p:sp>
        <p:nvSpPr>
          <p:cNvPr id="10" name="Chevron 9"/>
          <p:cNvSpPr/>
          <p:nvPr/>
        </p:nvSpPr>
        <p:spPr>
          <a:xfrm>
            <a:off x="7525512" y="1453896"/>
            <a:ext cx="256032" cy="256032"/>
          </a:xfrm>
          <a:prstGeom prst="chevron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01000" y="1234440"/>
            <a:ext cx="1783080" cy="731520"/>
          </a:xfrm>
          <a:prstGeom prst="roundRect">
            <a:avLst/>
          </a:prstGeom>
          <a:solidFill>
            <a:srgbClr val="D9E6DD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73F35"/>
                </a:solidFill>
                <a:latin typeface="Aptos"/>
              </a:rPr>
              <a:t>COMPLETED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331720"/>
            <a:ext cx="5440680" cy="324612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404872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create_order()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2679192"/>
            <a:ext cx="5111496" cy="280720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order = {</a:t>
            </a:r>
            <a:br/>
            <a:r>
              <a:t>    "order_id": order_id,</a:t>
            </a:r>
            <a:br/>
            <a:r>
              <a:t>    "customer_name": customer_name,</a:t>
            </a:r>
            <a:br/>
            <a:r>
              <a:t>    "items": items,</a:t>
            </a:r>
            <a:br/>
            <a:r>
              <a:t>    "item_count": item_count,</a:t>
            </a:r>
            <a:br/>
            <a:r>
              <a:t>    "subtotal": round(subtotal, 2),</a:t>
            </a:r>
            <a:br/>
            <a:r>
              <a:t>    "status": "RECEIVED",</a:t>
            </a:r>
            <a:br/>
            <a:r>
              <a:t>}</a:t>
            </a:r>
            <a:br/>
            <a:r>
              <a:t>self.active_orders.set(order_id, order)</a:t>
            </a:r>
            <a:br/>
            <a:r>
              <a:t>self.kitchen_queue.enqueue(order_id)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331720"/>
            <a:ext cx="5120640" cy="3246120"/>
          </a:xfrm>
          <a:prstGeom prst="round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40487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advance_order_status()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679192"/>
            <a:ext cx="4791456" cy="2807208"/>
          </a:xfrm>
          <a:prstGeom prst="rect">
            <a:avLst/>
          </a:prstGeom>
          <a:noFill/>
        </p:spPr>
        <p:txBody>
          <a:bodyPr wrap="none" lIns="50800" rIns="50800" tIns="0">
            <a:spAutoFit/>
          </a:bodyPr>
          <a:lstStyle/>
          <a:p>
            <a:pPr>
              <a:defRPr sz="1100">
                <a:solidFill>
                  <a:srgbClr val="DCDCDC"/>
                </a:solidFill>
                <a:latin typeface="Courier New"/>
              </a:defRPr>
            </a:pPr>
            <a:r>
              <a:t>if(order["status"] == "PREPARING"):</a:t>
            </a:r>
            <a:br/>
            <a:r>
              <a:t>    order["status"] = "READY"</a:t>
            </a:r>
            <a:br/>
            <a:r>
              <a:t>    return order</a:t>
            </a:r>
            <a:br/>
            <a:br/>
            <a:r>
              <a:t>if(order["status"] == "READY"):</a:t>
            </a:r>
            <a:br/>
            <a:r>
              <a:t>    order["status"] = "COMPLETED"</a:t>
            </a:r>
            <a:br/>
            <a:r>
              <a:t>    for item in order["items"]:</a:t>
            </a:r>
            <a:br/>
            <a:r>
              <a:t>        self.item_sales.increment(item["item_id"], item["quantity"])</a:t>
            </a:r>
            <a:br/>
            <a:r>
              <a:t>    self.completed_orders.insert(Node(order))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Results and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325880"/>
          <a:ext cx="594360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086600" y="1417320"/>
            <a:ext cx="4160520" cy="9601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10 unit tests passed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Linked list, queue, hash table, BST, sorting, search, and workflow checks all passed.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2651760"/>
            <a:ext cx="4160520" cy="9601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CLI demo works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Create order -&gt; start queue -&gt; ready -&gt; completed -&gt;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3886200"/>
            <a:ext cx="4160520" cy="96012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Small scope by design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Five menu items kept the final code readable and closer to lecture style.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5120640"/>
            <a:ext cx="4160520" cy="91440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terminal screenshot here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Conclusions and Future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3429000" cy="32461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What worked well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project stayed easy to demo. Each structure had one clear role. The code now feels much closer to an intro data structures class than our earlier draft.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25880"/>
            <a:ext cx="3429000" cy="3246120"/>
          </a:xfrm>
          <a:prstGeom prst="roundRect">
            <a:avLst/>
          </a:prstGeom>
          <a:solidFill>
            <a:srgbClr val="FFF8EF"/>
          </a:solidFill>
          <a:ln>
            <a:solidFill>
              <a:srgbClr val="FFF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Current limits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The system stores data only in memory. The BST is not self-balancing. The terminal interface is intentionally basic so the data structures stay front and center.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25880"/>
            <a:ext cx="3429000" cy="3246120"/>
          </a:xfrm>
          <a:prstGeom prst="roundRect">
            <a:avLst/>
          </a:prstGeom>
          <a:solidFill>
            <a:srgbClr val="D9E6DD"/>
          </a:solidFill>
          <a:ln>
            <a:solidFill>
              <a:srgbClr val="D9E6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>
              <a:defRPr sz="1800" b="1">
                <a:solidFill>
                  <a:srgbClr val="173F35"/>
                </a:solidFill>
                <a:latin typeface="Aptos"/>
              </a:defRPr>
            </a:pPr>
            <a:r>
              <a:t>Future work</a:t>
            </a:r>
          </a:p>
          <a:p>
            <a:pPr>
              <a:defRPr sz="1300">
                <a:solidFill>
                  <a:srgbClr val="1F1F1F"/>
                </a:solidFill>
                <a:latin typeface="Aptos"/>
              </a:defRPr>
            </a:pPr>
            <a:r>
              <a:t>Add persistent storage, accounts, payments, and a real mobile front end on top of the current backend. A self-balancing tree would also be a natural next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5029200"/>
            <a:ext cx="8503920" cy="86868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team contribution summary here if you want it on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73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References and Q&amp;A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64240" y="118872"/>
            <a:ext cx="640080" cy="384048"/>
          </a:xfrm>
          <a:prstGeom prst="roundRect">
            <a:avLst/>
          </a:prstGeom>
          <a:solidFill>
            <a:srgbClr val="C9773B"/>
          </a:solidFill>
          <a:ln>
            <a:solidFill>
              <a:srgbClr val="C977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1F1F1F"/>
                </a:solidFill>
                <a:latin typeface="Aptos"/>
              </a:defRPr>
            </a:pPr>
            <a:r>
              <a:t>[1] Linked List lecture slides (Lecture 2-2).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[2] Queue lecture slides (Lecture 3-2).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[3] BST lecture slides (Lecture 4-1 and 4-3).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[4] Hashing and Merge Sort lecture slides (Lecture 5-1 and 5-2).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[5] Sample project decks from the assignment folder.</a:t>
            </a:r>
          </a:p>
          <a:p>
            <a:pPr>
              <a:defRPr sz="1700" b="0">
                <a:solidFill>
                  <a:srgbClr val="1F1F1F"/>
                </a:solidFill>
                <a:latin typeface="Aptos"/>
              </a:defRPr>
            </a:pPr>
            <a:r>
              <a:t>[6] Project files: app.py, system.py, tests.py, benchmarks.py.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63040"/>
            <a:ext cx="3657600" cy="182880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final GitHub link or QR 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3657600"/>
            <a:ext cx="3657600" cy="1280160"/>
          </a:xfrm>
          <a:prstGeom prst="roundRect">
            <a:avLst/>
          </a:prstGeom>
          <a:solidFill>
            <a:srgbClr val="FFF8EF"/>
          </a:solidFill>
          <a:ln>
            <a:solidFill>
              <a:srgbClr val="C9773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C6B67"/>
                </a:solidFill>
                <a:latin typeface="Aptos"/>
              </a:rPr>
              <a:t>Add names or thank-you image 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5257800"/>
            <a:ext cx="3657600" cy="685800"/>
          </a:xfrm>
          <a:prstGeom prst="roundRect">
            <a:avLst/>
          </a:prstGeom>
          <a:solidFill>
            <a:srgbClr val="173F35"/>
          </a:solidFill>
          <a:ln>
            <a:solidFill>
              <a:srgbClr val="173F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